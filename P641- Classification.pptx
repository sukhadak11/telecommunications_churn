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Maven Pro" panose="020B0604020202020204" charset="0"/>
      <p:regular r:id="rId13"/>
      <p:bold r:id="rId14"/>
    </p:embeddedFont>
    <p:embeddedFont>
      <p:font typeface="Nunito" panose="020F0502020204030204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322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bd75c666ff_0_8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bd75c666ff_0_8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d75c666ff_0_8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bd75c666ff_0_8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d75c666ff_0_8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bd75c666ff_0_8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d75c666ff_0_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bd75c666ff_0_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bd75c666ff_0_8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bd75c666ff_0_8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bd75c666ff_0_8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bd75c666ff_0_8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bd75c666ff_0_8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bd75c666ff_0_8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bd75c666ff_0_8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bd75c666ff_0_8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bd81dac72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bd81dac72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ctrTitle"/>
          </p:nvPr>
        </p:nvSpPr>
        <p:spPr>
          <a:xfrm>
            <a:off x="432725" y="392100"/>
            <a:ext cx="8520600" cy="107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P641- Classification</a:t>
            </a:r>
            <a:endParaRPr sz="6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13"/>
          <p:cNvSpPr txBox="1">
            <a:spLocks noGrp="1"/>
          </p:cNvSpPr>
          <p:nvPr>
            <p:ph type="subTitle" idx="1"/>
          </p:nvPr>
        </p:nvSpPr>
        <p:spPr>
          <a:xfrm>
            <a:off x="2223371" y="2390950"/>
            <a:ext cx="3983276" cy="6779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Times New Roman"/>
                <a:ea typeface="Times New Roman"/>
                <a:cs typeface="Times New Roman"/>
                <a:sym typeface="Times New Roman"/>
              </a:rPr>
              <a:t>Telecommunications </a:t>
            </a:r>
            <a:r>
              <a:rPr lang="en-GB" sz="2200" dirty="0">
                <a:latin typeface="Times New Roman"/>
                <a:ea typeface="Times New Roman"/>
                <a:cs typeface="Times New Roman"/>
                <a:sym typeface="Times New Roman"/>
              </a:rPr>
              <a:t>Churn</a:t>
            </a:r>
            <a:endParaRPr sz="2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3"/>
          <p:cNvSpPr txBox="1"/>
          <p:nvPr/>
        </p:nvSpPr>
        <p:spPr>
          <a:xfrm>
            <a:off x="135525" y="3853400"/>
            <a:ext cx="69711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 Sukhada Khade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Organization: ExcelR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Domain: Data Science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>
            <a:spLocks noGrp="1"/>
          </p:cNvSpPr>
          <p:nvPr>
            <p:ph type="subTitle" idx="1"/>
          </p:nvPr>
        </p:nvSpPr>
        <p:spPr>
          <a:xfrm>
            <a:off x="388325" y="425475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Problem :</a:t>
            </a:r>
            <a:endParaRPr sz="3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14"/>
          <p:cNvSpPr txBox="1"/>
          <p:nvPr/>
        </p:nvSpPr>
        <p:spPr>
          <a:xfrm>
            <a:off x="388325" y="1323975"/>
            <a:ext cx="7588200" cy="26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Char char="●"/>
            </a:pPr>
            <a: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churn means customers leaving the telecom company.</a:t>
            </a:r>
            <a:b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Char char="●"/>
            </a:pPr>
            <a: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churn leads to revenue loss.</a:t>
            </a:r>
            <a:b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Char char="●"/>
            </a:pPr>
            <a: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Predicting churn helps the company take early action.</a:t>
            </a:r>
            <a:b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 Understand </a:t>
            </a:r>
            <a:r>
              <a:rPr lang="en-GB" sz="21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customers leave.</a:t>
            </a:r>
            <a:br>
              <a:rPr lang="en-GB" sz="21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>
            <a:spLocks noGrp="1"/>
          </p:cNvSpPr>
          <p:nvPr>
            <p:ph type="subTitle" idx="1"/>
          </p:nvPr>
        </p:nvSpPr>
        <p:spPr>
          <a:xfrm>
            <a:off x="243900" y="38915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Overview :</a:t>
            </a:r>
            <a:endParaRPr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15"/>
          <p:cNvSpPr txBox="1"/>
          <p:nvPr/>
        </p:nvSpPr>
        <p:spPr>
          <a:xfrm>
            <a:off x="305025" y="1221125"/>
            <a:ext cx="7600200" cy="37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Char char="●"/>
            </a:pPr>
            <a: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contains telecom customer information</a:t>
            </a:r>
            <a:b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customers: </a:t>
            </a:r>
            <a:r>
              <a:rPr lang="en-GB" sz="21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3333</a:t>
            </a:r>
            <a:br>
              <a:rPr lang="en-GB" sz="21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features: </a:t>
            </a:r>
            <a:r>
              <a:rPr lang="en-GB" sz="21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r>
            <a:br>
              <a:rPr lang="en-GB" sz="21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variable: </a:t>
            </a:r>
            <a:r>
              <a:rPr lang="en-GB" sz="21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Churn</a:t>
            </a:r>
            <a:br>
              <a:rPr lang="en-GB" sz="21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→ Customer stayed</a:t>
            </a:r>
            <a:br>
              <a:rPr lang="en-GB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→ Customer left</a:t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>
            <a:spLocks noGrp="1"/>
          </p:cNvSpPr>
          <p:nvPr>
            <p:ph type="subTitle" idx="1"/>
          </p:nvPr>
        </p:nvSpPr>
        <p:spPr>
          <a:xfrm>
            <a:off x="207575" y="207650"/>
            <a:ext cx="4255500" cy="5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Churn Distribution :</a:t>
            </a:r>
            <a:endParaRPr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7" name="Google Shape;29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3075" y="855325"/>
            <a:ext cx="4505651" cy="330502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6"/>
          <p:cNvSpPr txBox="1"/>
          <p:nvPr/>
        </p:nvSpPr>
        <p:spPr>
          <a:xfrm>
            <a:off x="360175" y="1109475"/>
            <a:ext cx="3769200" cy="21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customers stayed than left</a:t>
            </a:r>
            <a:br>
              <a:rPr lang="en-GB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-GB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is </a:t>
            </a:r>
            <a:r>
              <a:rPr lang="en-GB" sz="19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imbalanced</a:t>
            </a:r>
            <a:br>
              <a:rPr lang="en-GB" sz="19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Churn customers are fewer but important</a:t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9" name="Google Shape;299;p16"/>
          <p:cNvSpPr txBox="1"/>
          <p:nvPr/>
        </p:nvSpPr>
        <p:spPr>
          <a:xfrm>
            <a:off x="133125" y="3942500"/>
            <a:ext cx="80625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Insight:</a:t>
            </a:r>
            <a:endParaRPr sz="1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alone is not enough; recall and F1-score are important.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>
            <a:spLocks noGrp="1"/>
          </p:cNvSpPr>
          <p:nvPr>
            <p:ph type="subTitle" idx="1"/>
          </p:nvPr>
        </p:nvSpPr>
        <p:spPr>
          <a:xfrm>
            <a:off x="227100" y="156625"/>
            <a:ext cx="67536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Service Calls vs Churn :</a:t>
            </a:r>
            <a:endParaRPr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5" name="Google Shape;3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3925" y="924625"/>
            <a:ext cx="4345024" cy="3461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7"/>
          <p:cNvSpPr txBox="1"/>
          <p:nvPr/>
        </p:nvSpPr>
        <p:spPr>
          <a:xfrm>
            <a:off x="227100" y="1202950"/>
            <a:ext cx="4519500" cy="21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Char char="●"/>
            </a:pPr>
            <a: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Customers who churned made more service calls.</a:t>
            </a:r>
            <a:b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Char char="●"/>
            </a:pPr>
            <a: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Frequent complaints indicate dissatisfaction.</a:t>
            </a:r>
            <a:endParaRPr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17"/>
          <p:cNvSpPr txBox="1"/>
          <p:nvPr/>
        </p:nvSpPr>
        <p:spPr>
          <a:xfrm>
            <a:off x="227100" y="4143850"/>
            <a:ext cx="6298500" cy="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Insight:</a:t>
            </a:r>
            <a:endParaRPr sz="2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customer service calls → higher chance of churn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"/>
          <p:cNvSpPr txBox="1">
            <a:spLocks noGrp="1"/>
          </p:cNvSpPr>
          <p:nvPr>
            <p:ph type="subTitle" idx="1"/>
          </p:nvPr>
        </p:nvSpPr>
        <p:spPr>
          <a:xfrm>
            <a:off x="134175" y="231850"/>
            <a:ext cx="51690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Charges vs Churn :</a:t>
            </a:r>
            <a:endParaRPr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3" name="Google Shape;3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9475" y="993800"/>
            <a:ext cx="4532899" cy="35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8"/>
          <p:cNvSpPr txBox="1"/>
          <p:nvPr/>
        </p:nvSpPr>
        <p:spPr>
          <a:xfrm>
            <a:off x="134175" y="1251375"/>
            <a:ext cx="4188900" cy="18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Char char="●"/>
            </a:pPr>
            <a: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Churned customers have higher total charges.</a:t>
            </a:r>
            <a:b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Char char="●"/>
            </a:pPr>
            <a: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bills increase customer dissatisfaction.</a:t>
            </a:r>
            <a:endParaRPr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18"/>
          <p:cNvSpPr txBox="1"/>
          <p:nvPr/>
        </p:nvSpPr>
        <p:spPr>
          <a:xfrm>
            <a:off x="134175" y="4022825"/>
            <a:ext cx="4315500" cy="8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Insight:</a:t>
            </a:r>
            <a:endParaRPr sz="2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charges → higher churn risk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"/>
          <p:cNvSpPr txBox="1">
            <a:spLocks noGrp="1"/>
          </p:cNvSpPr>
          <p:nvPr>
            <p:ph type="subTitle" idx="1"/>
          </p:nvPr>
        </p:nvSpPr>
        <p:spPr>
          <a:xfrm>
            <a:off x="217825" y="290950"/>
            <a:ext cx="55089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Account Length vs Churn :</a:t>
            </a:r>
            <a:endParaRPr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1" name="Google Shape;3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871592"/>
            <a:ext cx="4375325" cy="3400307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9"/>
          <p:cNvSpPr txBox="1"/>
          <p:nvPr/>
        </p:nvSpPr>
        <p:spPr>
          <a:xfrm>
            <a:off x="147650" y="1396600"/>
            <a:ext cx="4187400" cy="1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Char char="●"/>
            </a:pPr>
            <a: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customers churn more</a:t>
            </a:r>
            <a:b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Char char="●"/>
            </a:pPr>
            <a: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Long-term customers are more loyal</a:t>
            </a:r>
            <a:endParaRPr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19"/>
          <p:cNvSpPr txBox="1"/>
          <p:nvPr/>
        </p:nvSpPr>
        <p:spPr>
          <a:xfrm>
            <a:off x="147650" y="3901800"/>
            <a:ext cx="4695600" cy="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Insight:</a:t>
            </a:r>
            <a:endParaRPr sz="1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loyalty increases with account length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"/>
          <p:cNvSpPr txBox="1">
            <a:spLocks noGrp="1"/>
          </p:cNvSpPr>
          <p:nvPr>
            <p:ph type="subTitle" idx="1"/>
          </p:nvPr>
        </p:nvSpPr>
        <p:spPr>
          <a:xfrm>
            <a:off x="73675" y="352875"/>
            <a:ext cx="57501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Plan vs Churn :</a:t>
            </a:r>
            <a:endParaRPr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9" name="Google Shape;3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925" y="1314625"/>
            <a:ext cx="4361950" cy="3240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0"/>
          <p:cNvSpPr txBox="1"/>
          <p:nvPr/>
        </p:nvSpPr>
        <p:spPr>
          <a:xfrm>
            <a:off x="285875" y="1469250"/>
            <a:ext cx="4279200" cy="16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●"/>
            </a:pPr>
            <a:r>
              <a:rPr lang="en-GB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Customers with international plans churn more</a:t>
            </a:r>
            <a:br>
              <a:rPr lang="en-GB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●"/>
            </a:pPr>
            <a:r>
              <a:rPr lang="en-GB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Possible reason: higher cost or unmet expectations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20"/>
          <p:cNvSpPr txBox="1"/>
          <p:nvPr/>
        </p:nvSpPr>
        <p:spPr>
          <a:xfrm>
            <a:off x="244475" y="4155950"/>
            <a:ext cx="54702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Insight:</a:t>
            </a:r>
            <a:br>
              <a:rPr lang="en-GB" sz="1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International plan users have higher churn tendency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"/>
          <p:cNvSpPr txBox="1">
            <a:spLocks noGrp="1"/>
          </p:cNvSpPr>
          <p:nvPr>
            <p:ph type="subTitle" idx="1"/>
          </p:nvPr>
        </p:nvSpPr>
        <p:spPr>
          <a:xfrm>
            <a:off x="158375" y="280275"/>
            <a:ext cx="5786400" cy="6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Correlation &amp; Scatter Analysis :</a:t>
            </a:r>
            <a:endParaRPr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7" name="Google Shape;3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575" y="997225"/>
            <a:ext cx="3516750" cy="2747226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1"/>
          <p:cNvSpPr txBox="1"/>
          <p:nvPr/>
        </p:nvSpPr>
        <p:spPr>
          <a:xfrm>
            <a:off x="92425" y="3805000"/>
            <a:ext cx="4170000" cy="6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●"/>
            </a:pPr>
            <a:r>
              <a:rPr lang="en-GB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correlation between minutes and charges.</a:t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9" name="Google Shape;33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9250" y="1014010"/>
            <a:ext cx="3654900" cy="2713666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1"/>
          <p:cNvSpPr txBox="1"/>
          <p:nvPr/>
        </p:nvSpPr>
        <p:spPr>
          <a:xfrm>
            <a:off x="4782850" y="3866950"/>
            <a:ext cx="4005900" cy="5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Charges are derived from usage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"/>
          <p:cNvSpPr txBox="1">
            <a:spLocks noGrp="1"/>
          </p:cNvSpPr>
          <p:nvPr>
            <p:ph type="subTitle" idx="1"/>
          </p:nvPr>
        </p:nvSpPr>
        <p:spPr>
          <a:xfrm>
            <a:off x="316500" y="377075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:</a:t>
            </a:r>
            <a:endParaRPr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22"/>
          <p:cNvSpPr txBox="1"/>
          <p:nvPr/>
        </p:nvSpPr>
        <p:spPr>
          <a:xfrm>
            <a:off x="510725" y="1263475"/>
            <a:ext cx="7249200" cy="29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EDA helped understand customer behavior clearly.</a:t>
            </a:r>
            <a:b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Identified major factors influencing churn.</a:t>
            </a:r>
            <a:b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Insights will guide preprocessing and model building.</a:t>
            </a:r>
            <a:b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GB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 EDA improves prediction accuracy.</a:t>
            </a:r>
            <a:endParaRPr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</Words>
  <Application>Microsoft Office PowerPoint</Application>
  <PresentationFormat>On-screen Show (16:9)</PresentationFormat>
  <Paragraphs>50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Nunito</vt:lpstr>
      <vt:lpstr>Arial</vt:lpstr>
      <vt:lpstr>Maven Pro</vt:lpstr>
      <vt:lpstr>Times New Roman</vt:lpstr>
      <vt:lpstr>Momentum</vt:lpstr>
      <vt:lpstr>P641- Classification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Shweta Khade</cp:lastModifiedBy>
  <cp:revision>1</cp:revision>
  <dcterms:modified xsi:type="dcterms:W3CDTF">2026-02-09T08:04:11Z</dcterms:modified>
</cp:coreProperties>
</file>